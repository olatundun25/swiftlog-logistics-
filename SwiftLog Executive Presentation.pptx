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10.xml" ContentType="application/vnd.openxmlformats-officedocument.presentationml.notesSlide+xml"/>
  <Override PartName="/ppt/charts/chart3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8" d="100"/>
          <a:sy n="88" d="100"/>
        </p:scale>
        <p:origin x="660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2A38"/>
                </a:solidFill>
                <a:latin typeface="Arial"/>
              </a:defRPr>
            </a:pPr>
            <a:r>
              <a:rPr lang="en-US" sz="1300" b="0" i="0" u="none" strike="noStrike">
                <a:solidFill>
                  <a:srgbClr val="1E2A38"/>
                </a:solidFill>
                <a:latin typeface="Arial"/>
              </a:rPr>
              <a:t>Delivery status (% of shipments)</a:t>
            </a:r>
          </a:p>
        </c:rich>
      </c:tx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Status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chemeClr val="accent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0366-40D0-BC41-3BA5EC5C27AE}"/>
              </c:ext>
            </c:extLst>
          </c:dPt>
          <c:dPt>
            <c:idx val="1"/>
            <c:bubble3D val="0"/>
            <c:spPr>
              <a:solidFill>
                <a:srgbClr val="00206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0366-40D0-BC41-3BA5EC5C27AE}"/>
              </c:ext>
            </c:extLst>
          </c:dPt>
          <c:dLbls>
            <c:dLbl>
              <c:idx val="0"/>
              <c:numFmt formatCode="0.0&quot;%&quot;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0366-40D0-BC41-3BA5EC5C27AE}"/>
                </c:ext>
              </c:extLst>
            </c:dLbl>
            <c:dLbl>
              <c:idx val="1"/>
              <c:numFmt formatCode="0.0&quot;%&quot;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0366-40D0-BC41-3BA5EC5C27AE}"/>
                </c:ext>
              </c:extLst>
            </c:dLbl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Delayed</c:v>
                </c:pt>
                <c:pt idx="1">
                  <c:v>On time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63.7</c:v>
                </c:pt>
                <c:pt idx="1">
                  <c:v>36.299999999999997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0366-40D0-BC41-3BA5EC5C27A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8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1E2A38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2A38"/>
                </a:solidFill>
                <a:latin typeface="Arial"/>
              </a:defRPr>
            </a:pPr>
            <a:r>
              <a:rPr lang="en-US" sz="1300" b="0" i="0" u="none" strike="noStrike">
                <a:solidFill>
                  <a:srgbClr val="1E2A38"/>
                </a:solidFill>
                <a:latin typeface="Arial"/>
              </a:rPr>
              <a:t>% delayed by location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Delayed %</c:v>
                </c:pt>
              </c:strCache>
            </c:strRef>
          </c:tx>
          <c:spPr>
            <a:solidFill>
              <a:srgbClr val="0070C0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E2A38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Lagos</c:v>
                </c:pt>
                <c:pt idx="1">
                  <c:v>Abuja</c:v>
                </c:pt>
                <c:pt idx="2">
                  <c:v>Kano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64.3</c:v>
                </c:pt>
                <c:pt idx="1">
                  <c:v>63.6</c:v>
                </c:pt>
                <c:pt idx="2">
                  <c:v>62.5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599-4D11-9A05-EE95E9148A3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C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majorGridlines>
          <c:spPr>
            <a:ln w="6350" cap="flat">
              <a:solidFill>
                <a:srgbClr val="E3E9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C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2A38"/>
                </a:solidFill>
                <a:latin typeface="Arial"/>
              </a:defRPr>
            </a:pPr>
            <a:r>
              <a:rPr lang="en-US" sz="1300" b="0" i="0" u="none" strike="noStrike">
                <a:solidFill>
                  <a:srgbClr val="1E2A38"/>
                </a:solidFill>
                <a:latin typeface="Arial"/>
              </a:rPr>
              <a:t>Returns by reason (500 total)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Returns</c:v>
                </c:pt>
              </c:strCache>
            </c:strRef>
          </c:tx>
          <c:spPr>
            <a:solidFill>
              <a:srgbClr val="0070C0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E2A38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Late delivery</c:v>
                </c:pt>
                <c:pt idx="1">
                  <c:v>Wrong item</c:v>
                </c:pt>
                <c:pt idx="2">
                  <c:v>Damaged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185</c:v>
                </c:pt>
                <c:pt idx="1">
                  <c:v>163</c:v>
                </c:pt>
                <c:pt idx="2">
                  <c:v>152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44A-411F-BA52-370F064A000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C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6350" cap="flat">
              <a:solidFill>
                <a:srgbClr val="E3E9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C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168479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yourself and the project: you were asked to turn SwiftLog's raw logistics data into a Power BI dashboard that helps management decide faster.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Live demo or screenshots: open each page in turn and show one slicer interaction and one cross-filter.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75120" y="-822960"/>
            <a:ext cx="3840480" cy="3840480"/>
          </a:xfrm>
          <a:prstGeom prst="ellipse">
            <a:avLst/>
          </a:prstGeom>
          <a:solidFill>
            <a:srgbClr val="2B4C7A"/>
          </a:solidFill>
          <a:ln w="12700">
            <a:solidFill>
              <a:srgbClr val="2B4C7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680960" y="3291840"/>
            <a:ext cx="2377440" cy="2377440"/>
          </a:xfrm>
          <a:prstGeom prst="ellipse">
            <a:avLst/>
          </a:prstGeom>
          <a:solidFill>
            <a:srgbClr val="E07B00"/>
          </a:solidFill>
          <a:ln w="12700">
            <a:solidFill>
              <a:srgbClr val="E07B0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23444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</a:rPr>
              <a:t>SwiftLog Logistics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01168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CADCFC"/>
                </a:solidFill>
              </a:rPr>
              <a:t>Supply Chain Analytics and Business Intelligence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9260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Presentation  |  Week 5 Data Analytics Track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329184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Adeyemo Taiwo Aminat, Junior Data Analyst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overview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109728" cy="109728"/>
          </a:xfrm>
          <a:prstGeom prst="ellipse">
            <a:avLst/>
          </a:prstGeom>
          <a:solidFill>
            <a:srgbClr val="E07B00"/>
          </a:solidFill>
          <a:ln w="12700">
            <a:solidFill>
              <a:srgbClr val="E07B0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</a:rPr>
              <a:t>2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1887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E2A38"/>
                </a:solidFill>
              </a:rPr>
              <a:t>SwiftLog is a fast-growing Nigerian logistics company. Growth has created delays, stock imbalances and little visibility for management.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2011680"/>
            <a:ext cx="19202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DCE6F2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548640" y="2121408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F3A5F"/>
                </a:solidFill>
              </a:rPr>
              <a:t>5,000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2807208"/>
            <a:ext cx="1737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B7C"/>
                </a:solidFill>
              </a:rPr>
              <a:t>orders (Jan to 8 Sep 2026)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560320" y="2011680"/>
            <a:ext cx="19202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DCE6F2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2651760" y="2121408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F3A5F"/>
                </a:solidFill>
              </a:rPr>
              <a:t>1,000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2651760" y="2807208"/>
            <a:ext cx="1737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B7C"/>
                </a:solidFill>
              </a:rPr>
              <a:t>customers in 4 cities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63440" y="2011680"/>
            <a:ext cx="19202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DCE6F2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4754880" y="2121408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F3A5F"/>
                </a:solidFill>
              </a:rPr>
              <a:t>250</a:t>
            </a:r>
            <a:endParaRPr lang="en-US" sz="2600" dirty="0"/>
          </a:p>
        </p:txBody>
      </p:sp>
      <p:sp>
        <p:nvSpPr>
          <p:cNvPr id="15" name="Text 13"/>
          <p:cNvSpPr txBox="1"/>
          <p:nvPr/>
        </p:nvSpPr>
        <p:spPr>
          <a:xfrm>
            <a:off x="4754880" y="2807208"/>
            <a:ext cx="1737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B7C"/>
                </a:solidFill>
              </a:rPr>
              <a:t>products in 3 categories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766560" y="2011680"/>
            <a:ext cx="19202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DCE6F2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6858000" y="2121408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F3A5F"/>
                </a:solidFill>
              </a:rPr>
              <a:t>15</a:t>
            </a:r>
            <a:endParaRPr lang="en-US" sz="2600" dirty="0"/>
          </a:p>
        </p:txBody>
      </p:sp>
      <p:sp>
        <p:nvSpPr>
          <p:cNvPr id="18" name="Text 16"/>
          <p:cNvSpPr txBox="1"/>
          <p:nvPr/>
        </p:nvSpPr>
        <p:spPr>
          <a:xfrm>
            <a:off x="6858000" y="2807208"/>
            <a:ext cx="1737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B7C"/>
                </a:solidFill>
              </a:rPr>
              <a:t>warehouses (Lagos, Abuja, Kano)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3703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7C"/>
                </a:solidFill>
              </a:rPr>
              <a:t>Cities served: Lagos, Abuja, Kano and Ibadan. Categories: Fashion, Food and Electronics.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109728" cy="109728"/>
          </a:xfrm>
          <a:prstGeom prst="ellipse">
            <a:avLst/>
          </a:prstGeom>
          <a:solidFill>
            <a:srgbClr val="E07B00"/>
          </a:solidFill>
          <a:ln w="12700">
            <a:solidFill>
              <a:srgbClr val="E07B0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</a:rPr>
              <a:t>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260604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DCE6F2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1737360"/>
            <a:ext cx="594360" cy="594360"/>
          </a:xfrm>
          <a:prstGeom prst="ellipse">
            <a:avLst/>
          </a:prstGeom>
          <a:solidFill>
            <a:srgbClr val="E07B00"/>
          </a:solidFill>
          <a:ln w="12700">
            <a:solidFill>
              <a:srgbClr val="E07B0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17373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1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1371600" y="1554480"/>
            <a:ext cx="1554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3A5F"/>
                </a:solidFill>
              </a:rPr>
              <a:t>Monitor business performance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246120" y="1371600"/>
            <a:ext cx="260604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DCE6F2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429000" y="1737360"/>
            <a:ext cx="594360" cy="594360"/>
          </a:xfrm>
          <a:prstGeom prst="ellipse">
            <a:avLst/>
          </a:prstGeom>
          <a:solidFill>
            <a:srgbClr val="E07B00"/>
          </a:solidFill>
          <a:ln w="12700">
            <a:solidFill>
              <a:srgbClr val="E07B0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429000" y="17373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2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4160520" y="1554480"/>
            <a:ext cx="1554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3A5F"/>
                </a:solidFill>
              </a:rPr>
              <a:t>Improve delivery efficiency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035040" y="1371600"/>
            <a:ext cx="260604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DCE6F2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17920" y="1737360"/>
            <a:ext cx="594360" cy="594360"/>
          </a:xfrm>
          <a:prstGeom prst="ellipse">
            <a:avLst/>
          </a:prstGeom>
          <a:solidFill>
            <a:srgbClr val="E07B00"/>
          </a:solidFill>
          <a:ln w="12700">
            <a:solidFill>
              <a:srgbClr val="E07B0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217920" y="17373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3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6949440" y="1554480"/>
            <a:ext cx="1554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3A5F"/>
                </a:solidFill>
              </a:rPr>
              <a:t>Improve inventory management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457200" y="2926080"/>
            <a:ext cx="260604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DCE6F2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40080" y="3291840"/>
            <a:ext cx="594360" cy="594360"/>
          </a:xfrm>
          <a:prstGeom prst="ellipse">
            <a:avLst/>
          </a:prstGeom>
          <a:solidFill>
            <a:srgbClr val="E07B00"/>
          </a:solidFill>
          <a:ln w="12700">
            <a:solidFill>
              <a:srgbClr val="E07B0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0080" y="32918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4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1371600" y="3108960"/>
            <a:ext cx="1554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3A5F"/>
                </a:solidFill>
              </a:rPr>
              <a:t>Evaluate supplier performance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3246120" y="2926080"/>
            <a:ext cx="260604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DCE6F2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429000" y="3291840"/>
            <a:ext cx="594360" cy="594360"/>
          </a:xfrm>
          <a:prstGeom prst="ellipse">
            <a:avLst/>
          </a:prstGeom>
          <a:solidFill>
            <a:srgbClr val="E07B00"/>
          </a:solidFill>
          <a:ln w="12700">
            <a:solidFill>
              <a:srgbClr val="E07B0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3429000" y="32918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5</a:t>
            </a:r>
            <a:endParaRPr lang="en-US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4160520" y="3108960"/>
            <a:ext cx="1554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3A5F"/>
                </a:solidFill>
              </a:rPr>
              <a:t>Reduce product returns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6035040" y="2926080"/>
            <a:ext cx="260604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DCE6F2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217920" y="3291840"/>
            <a:ext cx="594360" cy="594360"/>
          </a:xfrm>
          <a:prstGeom prst="ellipse">
            <a:avLst/>
          </a:prstGeom>
          <a:solidFill>
            <a:srgbClr val="E07B00"/>
          </a:solidFill>
          <a:ln w="12700">
            <a:solidFill>
              <a:srgbClr val="E07B00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217920" y="32918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6</a:t>
            </a:r>
            <a:endParaRPr lang="en-US" sz="2000" dirty="0"/>
          </a:p>
        </p:txBody>
      </p:sp>
      <p:sp>
        <p:nvSpPr>
          <p:cNvPr id="29" name="Text 27"/>
          <p:cNvSpPr txBox="1"/>
          <p:nvPr/>
        </p:nvSpPr>
        <p:spPr>
          <a:xfrm>
            <a:off x="6949440" y="3108960"/>
            <a:ext cx="1554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3A5F"/>
                </a:solidFill>
              </a:rPr>
              <a:t>Support executive decisions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preparation process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109728" cy="109728"/>
          </a:xfrm>
          <a:prstGeom prst="ellipse">
            <a:avLst/>
          </a:prstGeom>
          <a:solidFill>
            <a:srgbClr val="E07B00"/>
          </a:solidFill>
          <a:ln w="12700">
            <a:solidFill>
              <a:srgbClr val="E07B0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</a:rPr>
              <a:t>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1508760" cy="228600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9525">
            <a:solidFill>
              <a:srgbClr val="DCE6F2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1691640"/>
            <a:ext cx="594360" cy="594360"/>
          </a:xfrm>
          <a:prstGeom prst="ellipse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16916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237744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3A5F"/>
                </a:solidFill>
              </a:rPr>
              <a:t>Import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566928" y="2724912"/>
            <a:ext cx="128930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B6B7C"/>
                </a:solidFill>
              </a:rPr>
              <a:t>11 SwiftLog datasets loaded into Power BI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2121408" y="1554480"/>
            <a:ext cx="1508760" cy="228600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9525">
            <a:solidFill>
              <a:srgbClr val="DCE6F2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578608" y="1691640"/>
            <a:ext cx="594360" cy="594360"/>
          </a:xfrm>
          <a:prstGeom prst="ellipse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578608" y="16916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2212848" y="237744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3A5F"/>
                </a:solidFill>
              </a:rPr>
              <a:t>Clean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2231136" y="2724912"/>
            <a:ext cx="128930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B6B7C"/>
                </a:solidFill>
              </a:rPr>
              <a:t>Data types set, date fields (year, month, quarter) created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785616" y="1554480"/>
            <a:ext cx="1508760" cy="228600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9525">
            <a:solidFill>
              <a:srgbClr val="DCE6F2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242816" y="1691640"/>
            <a:ext cx="594360" cy="594360"/>
          </a:xfrm>
          <a:prstGeom prst="ellipse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242816" y="16916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3877056" y="237744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3A5F"/>
                </a:solidFill>
              </a:rPr>
              <a:t>Model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3895344" y="2724912"/>
            <a:ext cx="128930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B6B7C"/>
                </a:solidFill>
              </a:rPr>
              <a:t>Tables linked by order, customer, product, shipment and warehouse keys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449824" y="1554480"/>
            <a:ext cx="1508760" cy="228600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9525">
            <a:solidFill>
              <a:srgbClr val="DCE6F2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907024" y="1691640"/>
            <a:ext cx="594360" cy="594360"/>
          </a:xfrm>
          <a:prstGeom prst="ellipse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907024" y="16916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5541264" y="237744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3A5F"/>
                </a:solidFill>
              </a:rPr>
              <a:t>Measure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5559552" y="2724912"/>
            <a:ext cx="128930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B6B7C"/>
                </a:solidFill>
              </a:rPr>
              <a:t>16 DAX measures built for KPIs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7114032" y="1554480"/>
            <a:ext cx="1508760" cy="228600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9525">
            <a:solidFill>
              <a:srgbClr val="DCE6F2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7571232" y="1691640"/>
            <a:ext cx="594360" cy="594360"/>
          </a:xfrm>
          <a:prstGeom prst="ellipse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571232" y="16916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5</a:t>
            </a:r>
            <a:endParaRPr lang="en-US" sz="1800" dirty="0"/>
          </a:p>
        </p:txBody>
      </p:sp>
      <p:sp>
        <p:nvSpPr>
          <p:cNvPr id="29" name="Text 27"/>
          <p:cNvSpPr txBox="1"/>
          <p:nvPr/>
        </p:nvSpPr>
        <p:spPr>
          <a:xfrm>
            <a:off x="7205472" y="237744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3A5F"/>
                </a:solidFill>
              </a:rPr>
              <a:t>Visualise</a:t>
            </a:r>
            <a:endParaRPr lang="en-US" sz="1600" dirty="0"/>
          </a:p>
        </p:txBody>
      </p:sp>
      <p:sp>
        <p:nvSpPr>
          <p:cNvPr id="30" name="Text 28"/>
          <p:cNvSpPr txBox="1"/>
          <p:nvPr/>
        </p:nvSpPr>
        <p:spPr>
          <a:xfrm>
            <a:off x="7223760" y="2724912"/>
            <a:ext cx="128930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B6B7C"/>
                </a:solidFill>
              </a:rPr>
              <a:t>5 interactive dashboard pages</a:t>
            </a:r>
            <a:endParaRPr lang="en-US" sz="1150" dirty="0"/>
          </a:p>
        </p:txBody>
      </p:sp>
      <p:sp>
        <p:nvSpPr>
          <p:cNvPr id="31" name="Text 29"/>
          <p:cNvSpPr txBox="1"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7C"/>
                </a:solidFill>
              </a:rPr>
              <a:t>Data notes: 3 duplicate inventory rows and 100 products without a supplier record were identified and flagged.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demonstration: five interactive pages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109728" cy="109728"/>
          </a:xfrm>
          <a:prstGeom prst="ellipse">
            <a:avLst/>
          </a:prstGeom>
          <a:solidFill>
            <a:srgbClr val="E07B00"/>
          </a:solidFill>
          <a:ln w="12700">
            <a:solidFill>
              <a:srgbClr val="E07B0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</a:rPr>
              <a:t>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822960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9525">
            <a:solidFill>
              <a:srgbClr val="DCE6F2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234440"/>
            <a:ext cx="109728" cy="59436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123444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A5F"/>
                </a:solidFill>
              </a:rPr>
              <a:t>Executive Summary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3200400" y="1234440"/>
            <a:ext cx="5394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7C"/>
                </a:solidFill>
              </a:rPr>
              <a:t>Revenue and order trends, delivery status, KPI cards, city and quarter slicers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1938528"/>
            <a:ext cx="822960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9525">
            <a:solidFill>
              <a:srgbClr val="DCE6F2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1938528"/>
            <a:ext cx="109728" cy="594360"/>
          </a:xfrm>
          <a:prstGeom prst="rect">
            <a:avLst/>
          </a:prstGeom>
          <a:solidFill>
            <a:srgbClr val="E07B00"/>
          </a:solidFill>
          <a:ln w="12700">
            <a:solidFill>
              <a:srgbClr val="E07B0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31520" y="1938528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A5F"/>
                </a:solidFill>
              </a:rPr>
              <a:t>Customer Analysis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200400" y="1938528"/>
            <a:ext cx="5394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7C"/>
                </a:solidFill>
              </a:rPr>
              <a:t>Top customers, customers and orders by city, growth trend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2642616"/>
            <a:ext cx="822960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9525">
            <a:solidFill>
              <a:srgbClr val="DCE6F2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2642616"/>
            <a:ext cx="109728" cy="59436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31520" y="2642616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A5F"/>
                </a:solidFill>
              </a:rPr>
              <a:t>Inventory and Warehouse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3200400" y="2642616"/>
            <a:ext cx="5394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7C"/>
                </a:solidFill>
              </a:rPr>
              <a:t>Stock by category and warehouse location, turnover, lowest stock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3346704"/>
            <a:ext cx="822960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9525">
            <a:solidFill>
              <a:srgbClr val="DCE6F2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3346704"/>
            <a:ext cx="109728" cy="594360"/>
          </a:xfrm>
          <a:prstGeom prst="rect">
            <a:avLst/>
          </a:prstGeom>
          <a:solidFill>
            <a:srgbClr val="E07B00"/>
          </a:solidFill>
          <a:ln w="12700">
            <a:solidFill>
              <a:srgbClr val="E07B0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31520" y="3346704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A5F"/>
                </a:solidFill>
              </a:rPr>
              <a:t>Shipment and Delivery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3200400" y="3346704"/>
            <a:ext cx="5394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7C"/>
                </a:solidFill>
              </a:rPr>
              <a:t>Delivery status, delays by location, shipment volume trend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4050792"/>
            <a:ext cx="822960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9525">
            <a:solidFill>
              <a:srgbClr val="DCE6F2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57200" y="4050792"/>
            <a:ext cx="109728" cy="59436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31520" y="4050792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A5F"/>
                </a:solidFill>
              </a:rPr>
              <a:t>Supplier and Product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3200400" y="4050792"/>
            <a:ext cx="5394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7C"/>
                </a:solidFill>
              </a:rPr>
              <a:t>Best sellers, revenue by product, price comparison, category slicer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summary: sales are healthy, delivery is not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109728" cy="109728"/>
          </a:xfrm>
          <a:prstGeom prst="ellipse">
            <a:avLst/>
          </a:prstGeom>
          <a:solidFill>
            <a:srgbClr val="E07B00"/>
          </a:solidFill>
          <a:ln w="12700">
            <a:solidFill>
              <a:srgbClr val="E07B0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</a:rPr>
              <a:t>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DCE6F2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548640" y="1389888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F3A5F"/>
                </a:solidFill>
              </a:rPr>
              <a:t>21.67M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075688"/>
            <a:ext cx="2423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B7C"/>
                </a:solidFill>
              </a:rPr>
              <a:t>Total revenue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73552" y="128016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DCE6F2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3364992" y="1389888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F3A5F"/>
                </a:solidFill>
              </a:rPr>
              <a:t>4,334</a:t>
            </a:r>
            <a:endParaRPr lang="en-US" sz="2600" dirty="0"/>
          </a:p>
        </p:txBody>
      </p:sp>
      <p:sp>
        <p:nvSpPr>
          <p:cNvPr id="11" name="Text 9"/>
          <p:cNvSpPr txBox="1"/>
          <p:nvPr/>
        </p:nvSpPr>
        <p:spPr>
          <a:xfrm>
            <a:off x="3364992" y="2075688"/>
            <a:ext cx="2423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B7C"/>
                </a:solidFill>
              </a:rPr>
              <a:t>Average order value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089904" y="128016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DCE6F2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6181344" y="1389888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C0392B"/>
                </a:solidFill>
              </a:rPr>
              <a:t>3.57 days</a:t>
            </a:r>
            <a:endParaRPr lang="en-US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6181344" y="2075688"/>
            <a:ext cx="2423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B7C"/>
                </a:solidFill>
              </a:rPr>
              <a:t>Average delivery delay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283464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DCE6F2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548640" y="2944368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C0392B"/>
                </a:solidFill>
              </a:rPr>
              <a:t>36.3%</a:t>
            </a:r>
            <a:endParaRPr lang="en-US" sz="26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3630168"/>
            <a:ext cx="2423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B7C"/>
                </a:solidFill>
              </a:rPr>
              <a:t>On-time delivery rate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273552" y="283464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DCE6F2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3364992" y="2944368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07B00"/>
                </a:solidFill>
              </a:rPr>
              <a:t>10%</a:t>
            </a:r>
            <a:endParaRPr lang="en-US" sz="2600" dirty="0"/>
          </a:p>
        </p:txBody>
      </p:sp>
      <p:sp>
        <p:nvSpPr>
          <p:cNvPr id="20" name="Text 18"/>
          <p:cNvSpPr txBox="1"/>
          <p:nvPr/>
        </p:nvSpPr>
        <p:spPr>
          <a:xfrm>
            <a:off x="3364992" y="3630168"/>
            <a:ext cx="2423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B7C"/>
                </a:solidFill>
              </a:rPr>
              <a:t>Return rate (500 returns)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089904" y="283464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DCE6F2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6181344" y="2944368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07B00"/>
                </a:solidFill>
              </a:rPr>
              <a:t>0.08</a:t>
            </a:r>
            <a:endParaRPr lang="en-US" sz="2600" dirty="0"/>
          </a:p>
        </p:txBody>
      </p:sp>
      <p:sp>
        <p:nvSpPr>
          <p:cNvPr id="23" name="Text 21"/>
          <p:cNvSpPr txBox="1"/>
          <p:nvPr/>
        </p:nvSpPr>
        <p:spPr>
          <a:xfrm>
            <a:off x="6181344" y="3630168"/>
            <a:ext cx="2423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B7C"/>
                </a:solidFill>
              </a:rPr>
              <a:t>Inventory turnover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1: revenue is balanced, led by Fashion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109728" cy="109728"/>
          </a:xfrm>
          <a:prstGeom prst="ellipse">
            <a:avLst/>
          </a:prstGeom>
          <a:solidFill>
            <a:srgbClr val="E07B00"/>
          </a:solidFill>
          <a:ln w="12700">
            <a:solidFill>
              <a:srgbClr val="E07B0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</a:rPr>
              <a:t>7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5852160" y="1280160"/>
            <a:ext cx="2834640" cy="329184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9525">
            <a:solidFill>
              <a:srgbClr val="DCE6F2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6035040" y="1417320"/>
            <a:ext cx="24688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E2A38"/>
                </a:solidFill>
              </a:rPr>
              <a:t>Fashion 37.2%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E2A38"/>
                </a:solidFill>
              </a:rPr>
              <a:t>Food 32.8%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E2A38"/>
                </a:solidFill>
              </a:rPr>
              <a:t>Electronics 30.0%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E2A38"/>
                </a:solidFill>
              </a:rPr>
              <a:t> 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E2A38"/>
                </a:solidFill>
              </a:rPr>
              <a:t>Top 5 products make up only 4.2% of revenue, so sales are spread across a wide range of products.</a:t>
            </a:r>
            <a:endParaRPr lang="en-US" sz="13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C2B17D6-7937-407B-99BF-A61EFF8309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469" y="1142999"/>
            <a:ext cx="4263302" cy="302721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2: August is the peak month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109728" cy="109728"/>
          </a:xfrm>
          <a:prstGeom prst="ellipse">
            <a:avLst/>
          </a:prstGeom>
          <a:solidFill>
            <a:srgbClr val="E07B00"/>
          </a:solidFill>
          <a:ln w="12700">
            <a:solidFill>
              <a:srgbClr val="E07B0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</a:rPr>
              <a:t>8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6217920" y="1280160"/>
            <a:ext cx="2468880" cy="329184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9525">
            <a:solidFill>
              <a:srgbClr val="DCE6F2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6400800" y="1417320"/>
            <a:ext cx="21031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E2A38"/>
                </a:solidFill>
              </a:rPr>
              <a:t>August: 626 orders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A38"/>
                </a:solidFill>
              </a:rPr>
              <a:t>April and May follow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A38"/>
                </a:solidFill>
              </a:rPr>
              <a:t> 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A38"/>
                </a:solidFill>
              </a:rPr>
              <a:t>Q2 is the strongest quarter (8.00M).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A38"/>
                </a:solidFill>
              </a:rPr>
              <a:t> 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5B6B7C"/>
                </a:solidFill>
              </a:rPr>
              <a:t>September data ends on 8 Sep, so it is left out.</a:t>
            </a:r>
            <a:endParaRPr lang="en-US" sz="13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B332232-B7E8-4CBD-A42B-199BE8831F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1" y="1047088"/>
            <a:ext cx="5394960" cy="352491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3: nearly two in three shipments are late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109728" cy="109728"/>
          </a:xfrm>
          <a:prstGeom prst="ellipse">
            <a:avLst/>
          </a:prstGeom>
          <a:solidFill>
            <a:srgbClr val="E07B00"/>
          </a:solidFill>
          <a:ln w="12700">
            <a:solidFill>
              <a:srgbClr val="E07B0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</a:rPr>
              <a:t>9</a:t>
            </a:r>
            <a:endParaRPr lang="en-US" sz="900" dirty="0"/>
          </a:p>
        </p:txBody>
      </p:sp>
      <p:graphicFrame>
        <p:nvGraphicFramePr>
          <p:cNvPr id="6" name="Chart 0"/>
          <p:cNvGraphicFramePr/>
          <p:nvPr>
            <p:extLst>
              <p:ext uri="{D42A27DB-BD31-4B8C-83A1-F6EECF244321}">
                <p14:modId xmlns:p14="http://schemas.microsoft.com/office/powerpoint/2010/main" val="4182432863"/>
              </p:ext>
            </p:extLst>
          </p:nvPr>
        </p:nvGraphicFramePr>
        <p:xfrm>
          <a:off x="365760" y="1188720"/>
          <a:ext cx="347472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7" name="Chart 1"/>
          <p:cNvGraphicFramePr/>
          <p:nvPr>
            <p:extLst>
              <p:ext uri="{D42A27DB-BD31-4B8C-83A1-F6EECF244321}">
                <p14:modId xmlns:p14="http://schemas.microsoft.com/office/powerpoint/2010/main" val="3417145609"/>
              </p:ext>
            </p:extLst>
          </p:nvPr>
        </p:nvGraphicFramePr>
        <p:xfrm>
          <a:off x="4023360" y="1188720"/>
          <a:ext cx="301752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Shape 4"/>
          <p:cNvSpPr/>
          <p:nvPr/>
        </p:nvSpPr>
        <p:spPr>
          <a:xfrm>
            <a:off x="7223760" y="1280160"/>
            <a:ext cx="1508760" cy="329184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9525">
            <a:solidFill>
              <a:srgbClr val="DCE6F2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5"/>
          <p:cNvSpPr txBox="1"/>
          <p:nvPr/>
        </p:nvSpPr>
        <p:spPr>
          <a:xfrm>
            <a:off x="7315200" y="1417320"/>
            <a:ext cx="13258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C0392B"/>
                </a:solidFill>
              </a:rPr>
              <a:t>1,701</a:t>
            </a:r>
            <a:endParaRPr lang="en-US" sz="2200" dirty="0"/>
          </a:p>
          <a:p>
            <a:pPr marL="0" indent="0">
              <a:buNone/>
            </a:pPr>
            <a:r>
              <a:rPr lang="en-US" sz="1150" dirty="0">
                <a:solidFill>
                  <a:srgbClr val="1E2A38"/>
                </a:solidFill>
              </a:rPr>
              <a:t>delayed shipments in Lagos, 53% of all delays</a:t>
            </a:r>
            <a:endParaRPr lang="en-US" sz="2200" dirty="0"/>
          </a:p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 </a:t>
            </a:r>
            <a:endParaRPr lang="en-US" sz="2200" dirty="0"/>
          </a:p>
          <a:p>
            <a:pPr marL="0" indent="0">
              <a:buNone/>
            </a:pPr>
            <a:r>
              <a:rPr lang="en-US" sz="1150" dirty="0">
                <a:solidFill>
                  <a:srgbClr val="5B6B7C"/>
                </a:solidFill>
              </a:rPr>
              <a:t>Delays occur in every region and warehouse.</a:t>
            </a:r>
            <a:endParaRPr lang="en-US" sz="2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4: most returns and stock problems are fixable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109728" cy="109728"/>
          </a:xfrm>
          <a:prstGeom prst="ellipse">
            <a:avLst/>
          </a:prstGeom>
          <a:solidFill>
            <a:srgbClr val="E07B00"/>
          </a:solidFill>
          <a:ln w="12700">
            <a:solidFill>
              <a:srgbClr val="E07B0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</a:rPr>
              <a:t>10</a:t>
            </a:r>
            <a:endParaRPr lang="en-US" sz="900" dirty="0"/>
          </a:p>
        </p:txBody>
      </p:sp>
      <p:graphicFrame>
        <p:nvGraphicFramePr>
          <p:cNvPr id="6" name="Chart 0"/>
          <p:cNvGraphicFramePr/>
          <p:nvPr>
            <p:extLst>
              <p:ext uri="{D42A27DB-BD31-4B8C-83A1-F6EECF244321}">
                <p14:modId xmlns:p14="http://schemas.microsoft.com/office/powerpoint/2010/main" val="388624049"/>
              </p:ext>
            </p:extLst>
          </p:nvPr>
        </p:nvGraphicFramePr>
        <p:xfrm>
          <a:off x="457200" y="1188720"/>
          <a:ext cx="457200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5303520" y="1280160"/>
            <a:ext cx="33832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DCE6F2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5394960" y="1389888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07B00"/>
                </a:solidFill>
              </a:rPr>
              <a:t>63%</a:t>
            </a:r>
            <a:endParaRPr lang="en-US" sz="2600" dirty="0"/>
          </a:p>
        </p:txBody>
      </p:sp>
      <p:sp>
        <p:nvSpPr>
          <p:cNvPr id="9" name="Text 6"/>
          <p:cNvSpPr txBox="1"/>
          <p:nvPr/>
        </p:nvSpPr>
        <p:spPr>
          <a:xfrm>
            <a:off x="5394960" y="2181758"/>
            <a:ext cx="3200400" cy="5596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B7C"/>
                </a:solidFill>
              </a:rPr>
              <a:t>of returns are wrong or damaged items, which SwiftLog controls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303520" y="3017520"/>
            <a:ext cx="33832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DCE6F2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5394960" y="3127248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F3A5F"/>
                </a:solidFill>
              </a:rPr>
              <a:t>12x</a:t>
            </a:r>
            <a:endParaRPr lang="en-US" sz="2600" dirty="0"/>
          </a:p>
        </p:txBody>
      </p:sp>
      <p:sp>
        <p:nvSpPr>
          <p:cNvPr id="12" name="Text 9"/>
          <p:cNvSpPr txBox="1"/>
          <p:nvPr/>
        </p:nvSpPr>
        <p:spPr>
          <a:xfrm>
            <a:off x="5394960" y="3919118"/>
            <a:ext cx="3200400" cy="5596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B7C"/>
                </a:solidFill>
              </a:rPr>
              <a:t>more stock than recent demand needs (turnover 0.08)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business recommendations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109728" cy="109728"/>
          </a:xfrm>
          <a:prstGeom prst="ellipse">
            <a:avLst/>
          </a:prstGeom>
          <a:solidFill>
            <a:srgbClr val="E07B00"/>
          </a:solidFill>
          <a:ln w="12700">
            <a:solidFill>
              <a:srgbClr val="E07B0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</a:rPr>
              <a:t>11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402336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9525">
            <a:solidFill>
              <a:srgbClr val="DCE6F2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94360" y="1389888"/>
            <a:ext cx="365760" cy="365760"/>
          </a:xfrm>
          <a:prstGeom prst="ellipse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94360" y="13898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097280" y="123444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A5F"/>
                </a:solidFill>
              </a:rPr>
              <a:t>Fix delivery</a:t>
            </a:r>
            <a:endParaRPr lang="en-US" sz="1300" dirty="0"/>
          </a:p>
          <a:p>
            <a:pPr marL="0" indent="0">
              <a:buNone/>
            </a:pPr>
            <a:r>
              <a:rPr lang="en-US" sz="1050" dirty="0">
                <a:solidFill>
                  <a:srgbClr val="5B6B7C"/>
                </a:solidFill>
              </a:rPr>
              <a:t>Weekly delay root-cause log; start with Lagos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663440" y="1188720"/>
            <a:ext cx="402336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9525">
            <a:solidFill>
              <a:srgbClr val="DCE6F2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00600" y="1389888"/>
            <a:ext cx="365760" cy="365760"/>
          </a:xfrm>
          <a:prstGeom prst="ellipse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800600" y="13898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5303520" y="123444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A5F"/>
                </a:solidFill>
              </a:rPr>
              <a:t>Rebalance staff</a:t>
            </a:r>
            <a:endParaRPr lang="en-US" sz="1300" dirty="0"/>
          </a:p>
          <a:p>
            <a:pPr marL="0" indent="0">
              <a:buNone/>
            </a:pPr>
            <a:r>
              <a:rPr lang="en-US" sz="1050" dirty="0">
                <a:solidFill>
                  <a:srgbClr val="5B6B7C"/>
                </a:solidFill>
              </a:rPr>
              <a:t>W14, W15, W12 handle 34 to 38 shipments per employee vs about 20 at W13, W03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2075688"/>
            <a:ext cx="402336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9525">
            <a:solidFill>
              <a:srgbClr val="DCE6F2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94360" y="2276856"/>
            <a:ext cx="365760" cy="365760"/>
          </a:xfrm>
          <a:prstGeom prst="ellipse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94360" y="22768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097280" y="2121408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A5F"/>
                </a:solidFill>
              </a:rPr>
              <a:t>Right-size stock</a:t>
            </a:r>
            <a:endParaRPr lang="en-US" sz="1300" dirty="0"/>
          </a:p>
          <a:p>
            <a:pPr marL="0" indent="0">
              <a:buNone/>
            </a:pPr>
            <a:r>
              <a:rPr lang="en-US" sz="1050" dirty="0">
                <a:solidFill>
                  <a:srgbClr val="5B6B7C"/>
                </a:solidFill>
              </a:rPr>
              <a:t>Set reorder points; move surplus to low-stock sites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663440" y="2075688"/>
            <a:ext cx="402336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9525">
            <a:solidFill>
              <a:srgbClr val="DCE6F2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800600" y="2276856"/>
            <a:ext cx="365760" cy="365760"/>
          </a:xfrm>
          <a:prstGeom prst="ellipse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800600" y="22768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5303520" y="2121408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A5F"/>
                </a:solidFill>
              </a:rPr>
              <a:t>Supplier scorecards</a:t>
            </a:r>
            <a:endParaRPr lang="en-US" sz="1300" dirty="0"/>
          </a:p>
          <a:p>
            <a:pPr marL="0" indent="0">
              <a:buNone/>
            </a:pPr>
            <a:r>
              <a:rPr lang="en-US" sz="1050" dirty="0">
                <a:solidFill>
                  <a:srgbClr val="5B6B7C"/>
                </a:solidFill>
              </a:rPr>
              <a:t>Improve Suppliers 60, 73, 47, 104; learn from 85 and 65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57200" y="2962656"/>
            <a:ext cx="402336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9525">
            <a:solidFill>
              <a:srgbClr val="DCE6F2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94360" y="3163824"/>
            <a:ext cx="365760" cy="365760"/>
          </a:xfrm>
          <a:prstGeom prst="ellipse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94360" y="31638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1097280" y="3008376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A5F"/>
                </a:solidFill>
              </a:rPr>
              <a:t>Cut returns</a:t>
            </a:r>
            <a:endParaRPr lang="en-US" sz="1300" dirty="0"/>
          </a:p>
          <a:p>
            <a:pPr marL="0" indent="0">
              <a:buNone/>
            </a:pPr>
            <a:r>
              <a:rPr lang="en-US" sz="1050" dirty="0">
                <a:solidFill>
                  <a:srgbClr val="5B6B7C"/>
                </a:solidFill>
              </a:rPr>
              <a:t>Pick-and-pack checks and better packaging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663440" y="2962656"/>
            <a:ext cx="402336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9525">
            <a:solidFill>
              <a:srgbClr val="DCE6F2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800600" y="3163824"/>
            <a:ext cx="365760" cy="365760"/>
          </a:xfrm>
          <a:prstGeom prst="ellipse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800600" y="31638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6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5303520" y="3008376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A5F"/>
                </a:solidFill>
              </a:rPr>
              <a:t>Fix cancellations</a:t>
            </a:r>
            <a:endParaRPr lang="en-US" sz="1300" dirty="0"/>
          </a:p>
          <a:p>
            <a:pPr marL="0" indent="0">
              <a:buNone/>
            </a:pPr>
            <a:r>
              <a:rPr lang="en-US" sz="1050" dirty="0">
                <a:solidFill>
                  <a:srgbClr val="5B6B7C"/>
                </a:solidFill>
              </a:rPr>
              <a:t>Investigate the 32.5% cancelled and 34.3% pending orders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57200" y="3849624"/>
            <a:ext cx="402336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9525">
            <a:solidFill>
              <a:srgbClr val="DCE6F2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594360" y="4050792"/>
            <a:ext cx="365760" cy="365760"/>
          </a:xfrm>
          <a:prstGeom prst="ellipse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594360" y="40507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7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1097280" y="3895344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A5F"/>
                </a:solidFill>
              </a:rPr>
              <a:t>Retain top customers</a:t>
            </a:r>
            <a:endParaRPr lang="en-US" sz="1300" dirty="0"/>
          </a:p>
          <a:p>
            <a:pPr marL="0" indent="0">
              <a:buNone/>
            </a:pPr>
            <a:r>
              <a:rPr lang="en-US" sz="1050" dirty="0">
                <a:solidFill>
                  <a:srgbClr val="5B6B7C"/>
                </a:solidFill>
              </a:rPr>
              <a:t>Loyalty programme for the top 100 (22% of revenue)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4663440" y="3849624"/>
            <a:ext cx="402336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9525">
            <a:solidFill>
              <a:srgbClr val="DCE6F2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800600" y="4050792"/>
            <a:ext cx="365760" cy="365760"/>
          </a:xfrm>
          <a:prstGeom prst="ellipse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4800600" y="40507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8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5303520" y="3895344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A5F"/>
                </a:solidFill>
              </a:rPr>
              <a:t>Grow Fashion and Ibadan</a:t>
            </a:r>
            <a:endParaRPr lang="en-US" sz="1300" dirty="0"/>
          </a:p>
          <a:p>
            <a:pPr marL="0" indent="0">
              <a:buNone/>
            </a:pPr>
            <a:r>
              <a:rPr lang="en-US" sz="1050" dirty="0">
                <a:solidFill>
                  <a:srgbClr val="5B6B7C"/>
                </a:solidFill>
              </a:rPr>
              <a:t>Promote top products; lift Ibadan spend per customer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business impact (suggested targets)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109728" cy="109728"/>
          </a:xfrm>
          <a:prstGeom prst="ellipse">
            <a:avLst/>
          </a:prstGeom>
          <a:solidFill>
            <a:srgbClr val="E07B00"/>
          </a:solidFill>
          <a:ln w="12700">
            <a:solidFill>
              <a:srgbClr val="E07B0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</a:rPr>
              <a:t>12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192024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9525">
            <a:solidFill>
              <a:srgbClr val="DCE6F2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548640" y="1389888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E8B57"/>
                </a:solidFill>
              </a:rPr>
              <a:t>36% to 50%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287829"/>
            <a:ext cx="1737360" cy="625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B7C"/>
                </a:solidFill>
              </a:rPr>
              <a:t>on-time delivery, about 680 fewer late shipments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542032" y="1280160"/>
            <a:ext cx="192024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9525">
            <a:solidFill>
              <a:srgbClr val="DCE6F2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2633472" y="1389888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E8B57"/>
                </a:solidFill>
              </a:rPr>
              <a:t>10% to 8%</a:t>
            </a:r>
            <a:endParaRPr lang="en-US" sz="2600" dirty="0"/>
          </a:p>
        </p:txBody>
      </p:sp>
      <p:sp>
        <p:nvSpPr>
          <p:cNvPr id="11" name="Text 9"/>
          <p:cNvSpPr txBox="1"/>
          <p:nvPr/>
        </p:nvSpPr>
        <p:spPr>
          <a:xfrm>
            <a:off x="2633472" y="2287829"/>
            <a:ext cx="1737360" cy="625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B7C"/>
                </a:solidFill>
              </a:rPr>
              <a:t>return rate, about 100 fewer returns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26864" y="1280160"/>
            <a:ext cx="192024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9525">
            <a:solidFill>
              <a:srgbClr val="DCE6F2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4718304" y="1389888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E8B57"/>
                </a:solidFill>
              </a:rPr>
              <a:t>Lower</a:t>
            </a:r>
            <a:endParaRPr lang="en-US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4718304" y="2287829"/>
            <a:ext cx="1737360" cy="625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B7C"/>
                </a:solidFill>
              </a:rPr>
              <a:t>cancelled and pending orders, more completed sales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711696" y="1280160"/>
            <a:ext cx="196596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9525">
            <a:solidFill>
              <a:srgbClr val="DCE6F2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6803136" y="1389888"/>
            <a:ext cx="1783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E8B57"/>
                </a:solidFill>
              </a:rPr>
              <a:t>Less</a:t>
            </a:r>
            <a:endParaRPr lang="en-US" sz="2600" dirty="0"/>
          </a:p>
        </p:txBody>
      </p:sp>
      <p:sp>
        <p:nvSpPr>
          <p:cNvPr id="17" name="Text 15"/>
          <p:cNvSpPr txBox="1"/>
          <p:nvPr/>
        </p:nvSpPr>
        <p:spPr>
          <a:xfrm>
            <a:off x="6803136" y="2287829"/>
            <a:ext cx="1783080" cy="625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B7C"/>
                </a:solidFill>
              </a:rPr>
              <a:t>cash tied up in excess stock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33832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E2A38"/>
                </a:solidFill>
              </a:rPr>
              <a:t>Targets are illustrative goals based on current volume, for management to confirm. Weekly dashboard reviews of on-time rate, cancellations, returns, supplier scores and staffing ratios will track progress.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F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98080" y="3383280"/>
            <a:ext cx="2377440" cy="2377440"/>
          </a:xfrm>
          <a:prstGeom prst="ellipse">
            <a:avLst/>
          </a:prstGeom>
          <a:solidFill>
            <a:srgbClr val="E07B00"/>
          </a:solidFill>
          <a:ln w="12700">
            <a:solidFill>
              <a:srgbClr val="E07B0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5486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</a:rPr>
              <a:t>Conclusion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63040"/>
            <a:ext cx="75895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E6EEF8"/>
                </a:solidFill>
              </a:rPr>
              <a:t>SwiftLog has a strong commercial base: balanced categories, loyal repeat customers and steady demand.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E6EEF8"/>
                </a:solidFill>
              </a:rPr>
              <a:t> 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E6EEF8"/>
                </a:solidFill>
              </a:rPr>
              <a:t>Its biggest risks are operational: late deliveries, cancelled orders, avoidable returns and excess stock.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E6EEF8"/>
                </a:solidFill>
              </a:rPr>
              <a:t> 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E6EEF8"/>
                </a:solidFill>
              </a:rPr>
              <a:t>Fix delivery first, starting with Lagos, then clear the order backlog and introduce supplier and warehouse scorecards.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411480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07B00"/>
                </a:solidFill>
              </a:rPr>
              <a:t>Thank you. Questions?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805</Words>
  <Application>Microsoft Office PowerPoint</Application>
  <PresentationFormat>On-screen Show (16:9)</PresentationFormat>
  <Paragraphs>165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SwiftLog Logistics: Business Intelligence Findings</dc:title>
  <dc:subject>PptxGenJS Presentation</dc:subject>
  <dc:creator>Adeyemo Taiwo Aminat</dc:creator>
  <cp:lastModifiedBy>adeyemotaiwo2019@gmail.com</cp:lastModifiedBy>
  <cp:revision>4</cp:revision>
  <dcterms:created xsi:type="dcterms:W3CDTF">2026-10-20T00:55:49Z</dcterms:created>
  <dcterms:modified xsi:type="dcterms:W3CDTF">2026-10-20T11:11:02Z</dcterms:modified>
</cp:coreProperties>
</file>